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~4 นาที 0:00-0:30 Hook: "ถ้าให้ AI ดูรูปผลไม้ปีศาจจาก One Piece โมเดลไหนแยกได้แม่นที่สุด และคุ้มที่สุด?" 0:30-1:15 วิธีทำ: ใช้โมเดลสำเร็จรูป 4 ตัว (ResNet50, VGG16, EfficientNet-B0, MobileNetV3-Small) ปรับแต่งด้วย Optuna แล้วเทรนซ้ำหลาย seed เพื่อไม่เชื่อผลจากการเทรนครั้งเดียว 1:15-2:30 ผลลัพธ์: ResNet50 ชนะที่ F1 0.997 ± 0.003 แต่ชนะ VGG16 แบบไม่มีนัยสำคัญ (p=0.24) ส่วน EfficientNet และ MobileNet ต่างอย่างมีนัยสำคัญ (p=0.019, 0.001) 2:30-3:30 GradCAM / error: เล่าว่าโมเดลมองตรงไหน และ ResNet50 ผิดแค่ 1 จาก 273 รูป เพราะอะไร 3:30-4:15 ข้อคิด: ต้องการความแม่นสูงสุด เลือก ResNet50 ต้องการโมเดลเล็กรันบนมือถือ เลือก MobileNet (1.1M params) แลกความแม่นราว 2 จุด ข้อควรระวัง: test set มีแค่ 273 รูปและผลใกล้เพดาน ให้ยอมรับข้อจำกัดนี้ตรง ๆ ถ้ามีคนถาม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822920"/>
            <a:ext cx="10972800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2600" dirty="0">
                <a:solidFill>
                  <a:srgbClr val="F6F1E7"/>
                </a:solidFill>
                <a:latin typeface="Kanit" pitchFamily="34" charset="0"/>
                <a:ea typeface="Kanit" pitchFamily="34" charset="-122"/>
                <a:cs typeface="Kani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986161"/>
            <a:ext cx="10769600" cy="4059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822920"/>
            <a:ext cx="10972800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2600" dirty="0">
                <a:solidFill>
                  <a:srgbClr val="F6F1E7"/>
                </a:solidFill>
                <a:latin typeface="Kanit" pitchFamily="34" charset="0"/>
                <a:ea typeface="Kanit" pitchFamily="34" charset="-122"/>
                <a:cs typeface="Kani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986161"/>
            <a:ext cx="10769600" cy="4059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DADS7202 · TRANSFER LEARNING · ONE PIECE DEVIL FRUITS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22920"/>
            <a:ext cx="11301984" cy="88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i="0" dirty="0">
                <a:solidFill>
                  <a:srgbClr val="F6F1E7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ResNet50 แม่นที่สุด แต่ MobileNet เล็กกว่า 22 เท่า แลกกับความแม่นเพียง ~2 จุด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00" y="1833761"/>
            <a:ext cx="6096000" cy="3444478"/>
          </a:xfrm>
          <a:prstGeom prst="roundRect">
            <a:avLst>
              <a:gd name="adj" fmla="val 3687"/>
            </a:avLst>
          </a:prstGeom>
          <a:solidFill>
            <a:srgbClr val="162843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2011561"/>
            <a:ext cx="586028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6F1E7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F1 บน test set (mean ± SD, 5 seed)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372221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จุด = mean · เส้น = ±SD · ขวา = p เทียบ ResNet50 (ns = ไม่ต่าง)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650331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ResNet50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881412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24.0M params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90800" y="2858591"/>
            <a:ext cx="2857500" cy="12700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10" name="Shape 8"/>
          <p:cNvSpPr/>
          <p:nvPr/>
        </p:nvSpPr>
        <p:spPr>
          <a:xfrm>
            <a:off x="5035550" y="2852241"/>
            <a:ext cx="400050" cy="25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Shape 9"/>
          <p:cNvSpPr/>
          <p:nvPr/>
        </p:nvSpPr>
        <p:spPr>
          <a:xfrm>
            <a:off x="5156200" y="278874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397500" y="276592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ดีที่สุด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145631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VGG16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376712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17.9M params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90800" y="3353891"/>
            <a:ext cx="2857500" cy="12700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25950" y="3347541"/>
            <a:ext cx="946150" cy="25400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9650" y="328404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FB8DE"/>
          </a:solidFill>
          <a:ln/>
        </p:spPr>
      </p:sp>
      <p:sp>
        <p:nvSpPr>
          <p:cNvPr id="18" name="Text 16"/>
          <p:cNvSpPr/>
          <p:nvPr/>
        </p:nvSpPr>
        <p:spPr>
          <a:xfrm>
            <a:off x="5397500" y="326122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ns p=0.24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640931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MobileNetV3-S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3872012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1.1M params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90800" y="3849191"/>
            <a:ext cx="2857500" cy="12700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3441700" y="3842841"/>
            <a:ext cx="812800" cy="25400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23" name="Shape 21"/>
          <p:cNvSpPr/>
          <p:nvPr/>
        </p:nvSpPr>
        <p:spPr>
          <a:xfrm>
            <a:off x="3771900" y="377934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FB8DE"/>
          </a:solidFill>
          <a:ln/>
        </p:spPr>
      </p:sp>
      <p:sp>
        <p:nvSpPr>
          <p:cNvPr id="24" name="Text 22"/>
          <p:cNvSpPr/>
          <p:nvPr/>
        </p:nvSpPr>
        <p:spPr>
          <a:xfrm>
            <a:off x="5397500" y="375652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p=0.001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4136231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4367312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4.3M params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90800" y="4344491"/>
            <a:ext cx="2857500" cy="12700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3028950" y="4338141"/>
            <a:ext cx="1555750" cy="25400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29" name="Shape 27"/>
          <p:cNvSpPr/>
          <p:nvPr/>
        </p:nvSpPr>
        <p:spPr>
          <a:xfrm>
            <a:off x="3727450" y="427464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FB8DE"/>
          </a:solidFill>
          <a:ln/>
        </p:spPr>
      </p:sp>
      <p:sp>
        <p:nvSpPr>
          <p:cNvPr id="30" name="Text 28"/>
          <p:cNvSpPr/>
          <p:nvPr/>
        </p:nvSpPr>
        <p:spPr>
          <a:xfrm>
            <a:off x="5397500" y="425182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p=0.019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4630241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F1 (แกนเริ่ม 0.96)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90800" y="4630241"/>
            <a:ext cx="37897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0.96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61693" y="4630241"/>
            <a:ext cx="37897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0.98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69324" y="4630241"/>
            <a:ext cx="37897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1.00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10400" y="1833761"/>
            <a:ext cx="4572000" cy="3444478"/>
          </a:xfrm>
          <a:prstGeom prst="roundRect">
            <a:avLst>
              <a:gd name="adj" fmla="val 3687"/>
            </a:avLst>
          </a:prstGeom>
          <a:solidFill>
            <a:srgbClr val="162843"/>
          </a:solidFill>
          <a:ln/>
        </p:spPr>
      </p:sp>
      <p:sp>
        <p:nvSpPr>
          <p:cNvPr id="36" name="Text 34"/>
          <p:cNvSpPr/>
          <p:nvPr/>
        </p:nvSpPr>
        <p:spPr>
          <a:xfrm>
            <a:off x="7213600" y="2011561"/>
            <a:ext cx="429056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6F1E7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โมเดลมองตรงไหน? (GradCAM)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219950" y="2403971"/>
            <a:ext cx="2019300" cy="939800"/>
          </a:xfrm>
          <a:prstGeom prst="roundRect">
            <a:avLst>
              <a:gd name="adj" fmla="val 7432"/>
            </a:avLst>
          </a:prstGeom>
          <a:noFill/>
          <a:ln w="12700">
            <a:solidFill>
              <a:srgbClr val="3A527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7512844" y="2675830"/>
            <a:ext cx="143351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[ใส่ภาพ GradCAM]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04773" y="2873871"/>
            <a:ext cx="104965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gomu_gomu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353550" y="2403971"/>
            <a:ext cx="2019300" cy="939800"/>
          </a:xfrm>
          <a:prstGeom prst="roundRect">
            <a:avLst>
              <a:gd name="adj" fmla="val 7432"/>
            </a:avLst>
          </a:prstGeom>
          <a:noFill/>
          <a:ln w="12700">
            <a:solidFill>
              <a:srgbClr val="3A5273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9646444" y="2675830"/>
            <a:ext cx="143351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[ใส่ภาพ GradCAM]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74577" y="2873871"/>
            <a:ext cx="97714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mera_mera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19950" y="3458071"/>
            <a:ext cx="2019300" cy="939800"/>
          </a:xfrm>
          <a:prstGeom prst="roundRect">
            <a:avLst>
              <a:gd name="adj" fmla="val 7432"/>
            </a:avLst>
          </a:prstGeom>
          <a:noFill/>
          <a:ln w="12700">
            <a:solidFill>
              <a:srgbClr val="3A5273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7512844" y="3729930"/>
            <a:ext cx="143351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[ใส่ภาพ GradCAM]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74437" y="3927971"/>
            <a:ext cx="71032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ope_ope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353550" y="3458071"/>
            <a:ext cx="2019300" cy="939800"/>
          </a:xfrm>
          <a:prstGeom prst="roundRect">
            <a:avLst>
              <a:gd name="adj" fmla="val 7432"/>
            </a:avLst>
          </a:prstGeom>
          <a:noFill/>
          <a:ln w="12700">
            <a:solidFill>
              <a:srgbClr val="3A5273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9646444" y="3729930"/>
            <a:ext cx="143351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[ใส่ภาพ GradCAM]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905048" y="3927971"/>
            <a:ext cx="91630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yami_yami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13600" y="4493121"/>
            <a:ext cx="42905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[เล่าว่าโมเดลดูสี/รูปทรงตรงไหน และรูปที่ ResNet50 ทายผิด 1 รูปคืออะไร]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09600" y="5430639"/>
            <a:ext cx="27077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54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99.7%</a:t>
            </a:r>
            <a:endParaRPr lang="en-US" sz="3600" dirty="0"/>
          </a:p>
        </p:txBody>
      </p:sp>
      <p:sp>
        <p:nvSpPr>
          <p:cNvPr id="51" name="Text 49"/>
          <p:cNvSpPr/>
          <p:nvPr/>
        </p:nvSpPr>
        <p:spPr>
          <a:xfrm>
            <a:off x="609600" y="5933480"/>
            <a:ext cx="2707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F1 ของ ResNet50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390900" y="5430639"/>
            <a:ext cx="27077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54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22×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3390900" y="5933480"/>
            <a:ext cx="2707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MobileNet เล็กกว่า ResNet50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72200" y="5430639"/>
            <a:ext cx="27077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54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1/273</a:t>
            </a:r>
            <a:endParaRPr lang="en-US" sz="3600" dirty="0"/>
          </a:p>
        </p:txBody>
      </p:sp>
      <p:sp>
        <p:nvSpPr>
          <p:cNvPr id="55" name="Text 53"/>
          <p:cNvSpPr/>
          <p:nvPr/>
        </p:nvSpPr>
        <p:spPr>
          <a:xfrm>
            <a:off x="6172200" y="5933480"/>
            <a:ext cx="2707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รูปที่ ResNet50 ทายผิด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953500" y="5430639"/>
            <a:ext cx="27077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541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8953500" y="5933480"/>
            <a:ext cx="2707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รัน (4 โมเดล × 5 seed)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09600" y="639068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IBM Plex Sans Thai" pitchFamily="34" charset="0"/>
                <a:ea typeface="IBM Plex Sans Thai" pitchFamily="34" charset="-122"/>
                <a:cs typeface="IBM Plex Sans Thai" pitchFamily="34" charset="-120"/>
              </a:rPr>
              <a:t>Test set 273 รูป · F1 = macro-F1 · Welch's t-test (α = 0.05) · ผลชุดนี้มาจาก 5 seed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e Piece Devil Fruit Pitch">
  <a:themeElements>
    <a:clrScheme name="One Piece Devil Fruit Pitch">
      <a:dk1>
        <a:srgbClr val="0E1B2E"/>
      </a:dk1>
      <a:lt1>
        <a:srgbClr val="F6F1E7"/>
      </a:lt1>
      <a:dk2>
        <a:srgbClr val="253041"/>
      </a:dk2>
      <a:lt2>
        <a:srgbClr val="BCBCB9"/>
      </a:lt2>
      <a:accent1>
        <a:srgbClr val="F2A541"/>
      </a:accent1>
      <a:accent2>
        <a:srgbClr val="8FB8DE"/>
      </a:accent2>
      <a:accent3>
        <a:srgbClr val="2A3E5C"/>
      </a:accent3>
      <a:accent4>
        <a:srgbClr val="A9B7C9"/>
      </a:accent4>
      <a:accent5>
        <a:srgbClr val="9AA0A6"/>
      </a:accent5>
      <a:accent6>
        <a:srgbClr val="999B9D"/>
      </a:accent6>
      <a:hlink>
        <a:srgbClr val="0563C1"/>
      </a:hlink>
      <a:folHlink>
        <a:srgbClr val="954F72"/>
      </a:folHlink>
    </a:clrScheme>
    <a:fontScheme name="One Piece Devil Fruit Pitch">
      <a:majorFont>
        <a:latin typeface="Kan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Piece Devil Fruit Pitch</dc:title>
  <dc:subject/>
  <dc:creator/>
  <cp:lastModifiedBy/>
  <cp:revision>1</cp:revision>
  <dcterms:created xsi:type="dcterms:W3CDTF">2026-10-05T06:29:04Z</dcterms:created>
  <dcterms:modified xsi:type="dcterms:W3CDTF">2026-10-05T06:29:04Z</dcterms:modified>
</cp:coreProperties>
</file>